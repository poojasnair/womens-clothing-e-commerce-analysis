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BD294-1A30-4A9A-8455-B015E016715F}" v="42" dt="2026-09-15T15:23:01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nair" userId="3307cbf99fc42afb" providerId="LiveId" clId="{9466343E-D30F-40DC-92EB-6612E01C969A}"/>
    <pc:docChg chg="undo custSel addSld modSld">
      <pc:chgData name="pooja nair" userId="3307cbf99fc42afb" providerId="LiveId" clId="{9466343E-D30F-40DC-92EB-6612E01C969A}" dt="2026-09-15T15:23:01.326" v="77" actId="20577"/>
      <pc:docMkLst>
        <pc:docMk/>
      </pc:docMkLst>
      <pc:sldChg chg="modAnim">
        <pc:chgData name="pooja nair" userId="3307cbf99fc42afb" providerId="LiveId" clId="{9466343E-D30F-40DC-92EB-6612E01C969A}" dt="2026-09-15T14:02:24.349" v="18"/>
        <pc:sldMkLst>
          <pc:docMk/>
          <pc:sldMk cId="3207813854" sldId="256"/>
        </pc:sldMkLst>
      </pc:sldChg>
      <pc:sldChg chg="modSp new mod modAnim">
        <pc:chgData name="pooja nair" userId="3307cbf99fc42afb" providerId="LiveId" clId="{9466343E-D30F-40DC-92EB-6612E01C969A}" dt="2026-09-15T15:23:01.326" v="77" actId="20577"/>
        <pc:sldMkLst>
          <pc:docMk/>
          <pc:sldMk cId="1999205707" sldId="257"/>
        </pc:sldMkLst>
        <pc:spChg chg="mod">
          <ac:chgData name="pooja nair" userId="3307cbf99fc42afb" providerId="LiveId" clId="{9466343E-D30F-40DC-92EB-6612E01C969A}" dt="2026-09-15T15:23:01.326" v="77" actId="20577"/>
          <ac:spMkLst>
            <pc:docMk/>
            <pc:sldMk cId="1999205707" sldId="257"/>
            <ac:spMk id="2" creationId="{F985E859-3DD3-7B06-F30D-C1427E1E2C80}"/>
          </ac:spMkLst>
        </pc:spChg>
      </pc:sldChg>
      <pc:sldChg chg="addSp modSp new mod modAnim">
        <pc:chgData name="pooja nair" userId="3307cbf99fc42afb" providerId="LiveId" clId="{9466343E-D30F-40DC-92EB-6612E01C969A}" dt="2026-09-15T14:13:58.421" v="64"/>
        <pc:sldMkLst>
          <pc:docMk/>
          <pc:sldMk cId="2402516624" sldId="258"/>
        </pc:sldMkLst>
        <pc:spChg chg="add mod">
          <ac:chgData name="pooja nair" userId="3307cbf99fc42afb" providerId="LiveId" clId="{9466343E-D30F-40DC-92EB-6612E01C969A}" dt="2026-09-15T14:11:10.439" v="51" actId="255"/>
          <ac:spMkLst>
            <pc:docMk/>
            <pc:sldMk cId="2402516624" sldId="258"/>
            <ac:spMk id="2" creationId="{58E4A1A6-4B7E-FFA7-5E53-5A915EDD02D2}"/>
          </ac:spMkLst>
        </pc:spChg>
        <pc:spChg chg="add mod">
          <ac:chgData name="pooja nair" userId="3307cbf99fc42afb" providerId="LiveId" clId="{9466343E-D30F-40DC-92EB-6612E01C969A}" dt="2026-09-15T14:13:21.060" v="61" actId="5793"/>
          <ac:spMkLst>
            <pc:docMk/>
            <pc:sldMk cId="2402516624" sldId="258"/>
            <ac:spMk id="3" creationId="{1E09FB41-9DFC-74C2-0237-87A1597E03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96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524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24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582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2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51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18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2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4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57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0500C2A-49EC-47E0-8B6E-D99C5B08D36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F99E5-A25B-441D-B3AF-21361BB95EF3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25486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azanihababdellatif/womens-e-commerce-clothing-reviews-and-sales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A871C-3EC7-1FC4-6667-5295190FD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951273"/>
            <a:ext cx="9448800" cy="2576050"/>
          </a:xfrm>
        </p:spPr>
        <p:txBody>
          <a:bodyPr>
            <a:normAutofit/>
          </a:bodyPr>
          <a:lstStyle/>
          <a:p>
            <a:r>
              <a:rPr lang="en-IN" sz="5400" dirty="0">
                <a:latin typeface="Arial Black" panose="020B0A04020102020204" pitchFamily="34" charset="0"/>
              </a:rPr>
              <a:t>Women's E-Commerce Retail Performance &amp; Return Rate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0AB64-7429-A9CF-D19E-C193CD7A8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4620"/>
            <a:ext cx="2045110" cy="980768"/>
          </a:xfrm>
        </p:spPr>
        <p:txBody>
          <a:bodyPr/>
          <a:lstStyle/>
          <a:p>
            <a:r>
              <a:rPr lang="en-IN" dirty="0"/>
              <a:t>Presented by </a:t>
            </a:r>
          </a:p>
          <a:p>
            <a:r>
              <a:rPr lang="en-IN" dirty="0"/>
              <a:t>POOJA S NAIR</a:t>
            </a:r>
          </a:p>
        </p:txBody>
      </p:sp>
    </p:spTree>
    <p:extLst>
      <p:ext uri="{BB962C8B-B14F-4D97-AF65-F5344CB8AC3E}">
        <p14:creationId xmlns:p14="http://schemas.microsoft.com/office/powerpoint/2010/main" val="3207813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4A1A6-4B7E-FFA7-5E53-5A915EDD02D2}"/>
              </a:ext>
            </a:extLst>
          </p:cNvPr>
          <p:cNvSpPr txBox="1"/>
          <p:nvPr/>
        </p:nvSpPr>
        <p:spPr>
          <a:xfrm>
            <a:off x="1150374" y="845574"/>
            <a:ext cx="7334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9FB41-9DFC-74C2-0237-87A1597E034D}"/>
              </a:ext>
            </a:extLst>
          </p:cNvPr>
          <p:cNvSpPr txBox="1"/>
          <p:nvPr/>
        </p:nvSpPr>
        <p:spPr>
          <a:xfrm>
            <a:off x="1386348" y="2202425"/>
            <a:ext cx="889819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Kaggle dataset containing 50,000 product records with zero missing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Women's E-Commerce Clothing Reviews &amp; Sales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Records: 50,000 rows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Features: 15 columns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types: numerical and categorical variables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areas: products, price, discount, ratings, reviews, stock, sales and returns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51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889733-49D6-1E94-2CD6-1F58AEBD5F40}"/>
              </a:ext>
            </a:extLst>
          </p:cNvPr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Project 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73057A-6EAF-32F7-3C3E-262030CC58E3}"/>
              </a:ext>
            </a:extLst>
          </p:cNvPr>
          <p:cNvSpPr txBox="1"/>
          <p:nvPr/>
        </p:nvSpPr>
        <p:spPr>
          <a:xfrm>
            <a:off x="786580" y="1752599"/>
            <a:ext cx="99207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Analyze women’s clothing e-commerce data using Python.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Understand product sales, pricing and discounts.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Examine ratings, customer reviews and return rates.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Analyze stock levels and product characteristics.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Identify patterns and generate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199920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0B5ECE-FD61-5710-EF3D-648205D86756}"/>
              </a:ext>
            </a:extLst>
          </p:cNvPr>
          <p:cNvSpPr txBox="1"/>
          <p:nvPr/>
        </p:nvSpPr>
        <p:spPr>
          <a:xfrm>
            <a:off x="943897" y="698090"/>
            <a:ext cx="800345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Data Loading &amp; Initial Inspection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4117B-508F-0363-E5FA-1C5005B4FFDA}"/>
              </a:ext>
            </a:extLst>
          </p:cNvPr>
          <p:cNvSpPr txBox="1"/>
          <p:nvPr/>
        </p:nvSpPr>
        <p:spPr>
          <a:xfrm>
            <a:off x="732503" y="1878944"/>
            <a:ext cx="105156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Imported Pandas, NumPy, Matplotlib and Seaborn.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Loaded the CSV dataset using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pandas.read_csv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Checked the first rows using head().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Checked dataset size using shape.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Checked data types using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dtypes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Reviewed statistical summaries using describe().</a:t>
            </a:r>
          </a:p>
        </p:txBody>
      </p:sp>
    </p:spTree>
    <p:extLst>
      <p:ext uri="{BB962C8B-B14F-4D97-AF65-F5344CB8AC3E}">
        <p14:creationId xmlns:p14="http://schemas.microsoft.com/office/powerpoint/2010/main" val="208334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9BF623-C22F-55E5-CBEC-259A37D4906E}"/>
              </a:ext>
            </a:extLst>
          </p:cNvPr>
          <p:cNvSpPr txBox="1"/>
          <p:nvPr/>
        </p:nvSpPr>
        <p:spPr>
          <a:xfrm>
            <a:off x="640080" y="594360"/>
            <a:ext cx="35974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Additional Columns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A7581-D15A-D091-7F55-D7DFF408D0FE}"/>
              </a:ext>
            </a:extLst>
          </p:cNvPr>
          <p:cNvSpPr txBox="1"/>
          <p:nvPr/>
        </p:nvSpPr>
        <p:spPr>
          <a:xfrm>
            <a:off x="838200" y="1967435"/>
            <a:ext cx="10515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Discount Amount = Price × Discount % / 100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Selling Price = Original Price − Discount Amount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Sales Category = Low Sales / Medium Sales / High Sales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Price Category = Budget/Mid range/Premium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18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AD692-2280-3289-2846-46F6B9D363A2}"/>
              </a:ext>
            </a:extLst>
          </p:cNvPr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EDA Visualizations — Charts 1 to 3</a:t>
            </a:r>
          </a:p>
        </p:txBody>
      </p:sp>
      <p:pic>
        <p:nvPicPr>
          <p:cNvPr id="5" name="Picture 4" descr="01_category_units.png">
            <a:extLst>
              <a:ext uri="{FF2B5EF4-FFF2-40B4-BE49-F238E27FC236}">
                <a16:creationId xmlns:a16="http://schemas.microsoft.com/office/drawing/2014/main" id="{FD0B2F8E-B94B-A829-E253-A123632FD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657600" cy="3337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CE61C5-5598-3F44-2C0F-884EBC850133}"/>
              </a:ext>
            </a:extLst>
          </p:cNvPr>
          <p:cNvSpPr txBox="1"/>
          <p:nvPr/>
        </p:nvSpPr>
        <p:spPr>
          <a:xfrm>
            <a:off x="365759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Tops and Dresses have the highest total units sold among the categories.</a:t>
            </a:r>
          </a:p>
        </p:txBody>
      </p:sp>
      <p:pic>
        <p:nvPicPr>
          <p:cNvPr id="9" name="Picture 8" descr="02_category_pie.png">
            <a:extLst>
              <a:ext uri="{FF2B5EF4-FFF2-40B4-BE49-F238E27FC236}">
                <a16:creationId xmlns:a16="http://schemas.microsoft.com/office/drawing/2014/main" id="{1E2B0AD4-5549-49AA-55AA-45A8D56D4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143000"/>
            <a:ext cx="3657600" cy="3337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630B0C-F8F9-AF75-068A-C9CCD3C7833D}"/>
              </a:ext>
            </a:extLst>
          </p:cNvPr>
          <p:cNvSpPr txBox="1"/>
          <p:nvPr/>
        </p:nvSpPr>
        <p:spPr>
          <a:xfrm>
            <a:off x="4142232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The product mix is spread across 15 categories; Dresses and Tops are the largest groups by record count.</a:t>
            </a:r>
          </a:p>
        </p:txBody>
      </p:sp>
      <p:pic>
        <p:nvPicPr>
          <p:cNvPr id="13" name="Picture 12" descr="03_season_line.png">
            <a:extLst>
              <a:ext uri="{FF2B5EF4-FFF2-40B4-BE49-F238E27FC236}">
                <a16:creationId xmlns:a16="http://schemas.microsoft.com/office/drawing/2014/main" id="{85E237B1-FF99-4EA8-B4DC-2EEE5FCAED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3" y="1143000"/>
            <a:ext cx="3657600" cy="33375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552681-EE30-2D77-A80A-EDC8DFC082AC}"/>
              </a:ext>
            </a:extLst>
          </p:cNvPr>
          <p:cNvSpPr txBox="1"/>
          <p:nvPr/>
        </p:nvSpPr>
        <p:spPr>
          <a:xfrm>
            <a:off x="7918704" y="4572000"/>
            <a:ext cx="3566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S</a:t>
            </a:r>
            <a:r>
              <a:rPr lang="en-IN" dirty="0" err="1"/>
              <a:t>pring</a:t>
            </a:r>
            <a:r>
              <a:rPr dirty="0"/>
              <a:t> shows the highest average sales among the listed seasons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266094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04_price_histogram.png">
            <a:extLst>
              <a:ext uri="{FF2B5EF4-FFF2-40B4-BE49-F238E27FC236}">
                <a16:creationId xmlns:a16="http://schemas.microsoft.com/office/drawing/2014/main" id="{FA8A834E-F6AA-6E39-5F04-77A1D1653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657600" cy="3337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68CB06-4A73-D404-F81F-6915F4C5CE7D}"/>
              </a:ext>
            </a:extLst>
          </p:cNvPr>
          <p:cNvSpPr txBox="1"/>
          <p:nvPr/>
        </p:nvSpPr>
        <p:spPr>
          <a:xfrm>
            <a:off x="365759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Prices are concentrated toward the lower-to-middle range, with a smaller number of higher-priced products.</a:t>
            </a:r>
          </a:p>
        </p:txBody>
      </p:sp>
      <p:pic>
        <p:nvPicPr>
          <p:cNvPr id="7" name="Picture 6" descr="05_price_boxplot.png">
            <a:extLst>
              <a:ext uri="{FF2B5EF4-FFF2-40B4-BE49-F238E27FC236}">
                <a16:creationId xmlns:a16="http://schemas.microsoft.com/office/drawing/2014/main" id="{98A77CB7-13D5-6AA3-47DF-85D7AA68F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143000"/>
            <a:ext cx="3657600" cy="33375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B20316-2A51-C173-175C-A106F94A3749}"/>
              </a:ext>
            </a:extLst>
          </p:cNvPr>
          <p:cNvSpPr txBox="1"/>
          <p:nvPr/>
        </p:nvSpPr>
        <p:spPr>
          <a:xfrm>
            <a:off x="4142232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Price levels vary substantially across clothing categories; higher-priced categories show wider distributions.</a:t>
            </a:r>
          </a:p>
        </p:txBody>
      </p:sp>
      <p:pic>
        <p:nvPicPr>
          <p:cNvPr id="11" name="Picture 10" descr="06_sales_violin.png">
            <a:extLst>
              <a:ext uri="{FF2B5EF4-FFF2-40B4-BE49-F238E27FC236}">
                <a16:creationId xmlns:a16="http://schemas.microsoft.com/office/drawing/2014/main" id="{71BFA90D-0CCB-189C-AC40-3A7DBCE5F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3" y="1143000"/>
            <a:ext cx="3657600" cy="33375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EC96D07-DB76-D3BB-EB99-3DE32264574B}"/>
              </a:ext>
            </a:extLst>
          </p:cNvPr>
          <p:cNvSpPr txBox="1"/>
          <p:nvPr/>
        </p:nvSpPr>
        <p:spPr>
          <a:xfrm>
            <a:off x="7918704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The violin plot shows the distribution of sales across the defined low, medium and high sales groups.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5D3B5-A55A-D083-6A16-26871650F438}"/>
              </a:ext>
            </a:extLst>
          </p:cNvPr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EDA Visualizations — Charts 4 to 6</a:t>
            </a:r>
          </a:p>
        </p:txBody>
      </p:sp>
    </p:spTree>
    <p:extLst>
      <p:ext uri="{BB962C8B-B14F-4D97-AF65-F5344CB8AC3E}">
        <p14:creationId xmlns:p14="http://schemas.microsoft.com/office/powerpoint/2010/main" val="1321442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56ED36-66AE-63BB-9D00-12174138BAC4}"/>
              </a:ext>
            </a:extLst>
          </p:cNvPr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EDA Visualizations — Charts 7 to 9</a:t>
            </a:r>
          </a:p>
        </p:txBody>
      </p:sp>
      <p:pic>
        <p:nvPicPr>
          <p:cNvPr id="5" name="Picture 4" descr="07_discount_scatter.png">
            <a:extLst>
              <a:ext uri="{FF2B5EF4-FFF2-40B4-BE49-F238E27FC236}">
                <a16:creationId xmlns:a16="http://schemas.microsoft.com/office/drawing/2014/main" id="{D9937E10-6F01-2E0E-6FE9-55629F8B3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657600" cy="3337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063899-568F-CA17-F930-0F9A04630A87}"/>
              </a:ext>
            </a:extLst>
          </p:cNvPr>
          <p:cNvSpPr txBox="1"/>
          <p:nvPr/>
        </p:nvSpPr>
        <p:spPr>
          <a:xfrm>
            <a:off x="365759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Discount percentage has only a weak positive relationship with units sold; discount alone does not explain most sales variation.</a:t>
            </a:r>
          </a:p>
        </p:txBody>
      </p:sp>
      <p:pic>
        <p:nvPicPr>
          <p:cNvPr id="9" name="Picture 8" descr="08_review_scatter.png">
            <a:extLst>
              <a:ext uri="{FF2B5EF4-FFF2-40B4-BE49-F238E27FC236}">
                <a16:creationId xmlns:a16="http://schemas.microsoft.com/office/drawing/2014/main" id="{708E1FA4-AE40-8C1A-4515-AEED5B87E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143000"/>
            <a:ext cx="3657600" cy="3337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7E2449-9046-F9A0-71CB-C842DD937A58}"/>
              </a:ext>
            </a:extLst>
          </p:cNvPr>
          <p:cNvSpPr txBox="1"/>
          <p:nvPr/>
        </p:nvSpPr>
        <p:spPr>
          <a:xfrm>
            <a:off x="4142232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Review count has a strong positive association with units sold; this is correlation, not proof of causation.</a:t>
            </a:r>
          </a:p>
        </p:txBody>
      </p:sp>
      <p:pic>
        <p:nvPicPr>
          <p:cNvPr id="13" name="Picture 12" descr="09_correlation_heatmap.png">
            <a:extLst>
              <a:ext uri="{FF2B5EF4-FFF2-40B4-BE49-F238E27FC236}">
                <a16:creationId xmlns:a16="http://schemas.microsoft.com/office/drawing/2014/main" id="{BC4D1C11-CFBE-FA9D-2B68-4ED971C57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3" y="1143000"/>
            <a:ext cx="3657600" cy="33375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D4557D6-BC99-1D81-74DA-BA74F1B810BD}"/>
              </a:ext>
            </a:extLst>
          </p:cNvPr>
          <p:cNvSpPr txBox="1"/>
          <p:nvPr/>
        </p:nvSpPr>
        <p:spPr>
          <a:xfrm>
            <a:off x="7918704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The heatmap shows </a:t>
            </a:r>
            <a:r>
              <a:rPr dirty="0" err="1"/>
              <a:t>review_count</a:t>
            </a:r>
            <a:r>
              <a:rPr dirty="0"/>
              <a:t> has the strongest simple correlation with </a:t>
            </a:r>
            <a:r>
              <a:rPr dirty="0" err="1"/>
              <a:t>units_sold</a:t>
            </a:r>
            <a:r>
              <a:rPr dirty="0"/>
              <a:t> among the numeric variables shown.</a:t>
            </a:r>
          </a:p>
        </p:txBody>
      </p:sp>
    </p:spTree>
    <p:extLst>
      <p:ext uri="{BB962C8B-B14F-4D97-AF65-F5344CB8AC3E}">
        <p14:creationId xmlns:p14="http://schemas.microsoft.com/office/powerpoint/2010/main" val="1283642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56EF42-DBC1-599A-5BED-D4992CF5D326}"/>
              </a:ext>
            </a:extLst>
          </p:cNvPr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EDA Visualizations — Charts 10 to 12</a:t>
            </a:r>
          </a:p>
        </p:txBody>
      </p:sp>
      <p:pic>
        <p:nvPicPr>
          <p:cNvPr id="5" name="Picture 4" descr="10_material_bar.png">
            <a:extLst>
              <a:ext uri="{FF2B5EF4-FFF2-40B4-BE49-F238E27FC236}">
                <a16:creationId xmlns:a16="http://schemas.microsoft.com/office/drawing/2014/main" id="{3838C260-3094-7697-F751-1AD0967E9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657600" cy="3337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325A6E-5ABF-7189-0828-E2432758C0D0}"/>
              </a:ext>
            </a:extLst>
          </p:cNvPr>
          <p:cNvSpPr txBox="1"/>
          <p:nvPr/>
        </p:nvSpPr>
        <p:spPr>
          <a:xfrm>
            <a:off x="365759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Cotton is the highest-volume material by total units sold.</a:t>
            </a:r>
          </a:p>
        </p:txBody>
      </p:sp>
      <p:pic>
        <p:nvPicPr>
          <p:cNvPr id="9" name="Picture 8" descr="11_style_bar.png">
            <a:extLst>
              <a:ext uri="{FF2B5EF4-FFF2-40B4-BE49-F238E27FC236}">
                <a16:creationId xmlns:a16="http://schemas.microsoft.com/office/drawing/2014/main" id="{6E149D7B-6065-332F-3697-DC236A376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143000"/>
            <a:ext cx="3657600" cy="3337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EA6C02-75A4-5A8E-3834-5748815CF97B}"/>
              </a:ext>
            </a:extLst>
          </p:cNvPr>
          <p:cNvSpPr txBox="1"/>
          <p:nvPr/>
        </p:nvSpPr>
        <p:spPr>
          <a:xfrm>
            <a:off x="4142232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Casual is the highest-volume style by total units sold.</a:t>
            </a:r>
          </a:p>
        </p:txBody>
      </p:sp>
      <p:pic>
        <p:nvPicPr>
          <p:cNvPr id="13" name="Picture 12" descr="12_size_bar.png">
            <a:extLst>
              <a:ext uri="{FF2B5EF4-FFF2-40B4-BE49-F238E27FC236}">
                <a16:creationId xmlns:a16="http://schemas.microsoft.com/office/drawing/2014/main" id="{E34649B6-D9EA-9B1F-DEBB-4559EAA36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3" y="1143000"/>
            <a:ext cx="3657600" cy="33375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FABC94-535A-4CEE-BBFD-687EE7F6F296}"/>
              </a:ext>
            </a:extLst>
          </p:cNvPr>
          <p:cNvSpPr txBox="1"/>
          <p:nvPr/>
        </p:nvSpPr>
        <p:spPr>
          <a:xfrm>
            <a:off x="7918704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M is the highest-volume size, followed by L.</a:t>
            </a:r>
          </a:p>
        </p:txBody>
      </p:sp>
    </p:spTree>
    <p:extLst>
      <p:ext uri="{BB962C8B-B14F-4D97-AF65-F5344CB8AC3E}">
        <p14:creationId xmlns:p14="http://schemas.microsoft.com/office/powerpoint/2010/main" val="21630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EBEB5-7E11-C585-0FDD-98DEE5215235}"/>
              </a:ext>
            </a:extLst>
          </p:cNvPr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EDA Visualizations — Charts 13 to 15</a:t>
            </a:r>
          </a:p>
        </p:txBody>
      </p:sp>
      <p:pic>
        <p:nvPicPr>
          <p:cNvPr id="5" name="Picture 4" descr="13_color_bar.png">
            <a:extLst>
              <a:ext uri="{FF2B5EF4-FFF2-40B4-BE49-F238E27FC236}">
                <a16:creationId xmlns:a16="http://schemas.microsoft.com/office/drawing/2014/main" id="{4C998CB2-B455-8B4C-24C6-21945D8BA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657600" cy="3337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9384CB-AFD6-830C-DD3D-8631A73625E6}"/>
              </a:ext>
            </a:extLst>
          </p:cNvPr>
          <p:cNvSpPr txBox="1"/>
          <p:nvPr/>
        </p:nvSpPr>
        <p:spPr>
          <a:xfrm>
            <a:off x="365759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Black is the highest-volume color by total units sold.</a:t>
            </a:r>
          </a:p>
        </p:txBody>
      </p:sp>
      <p:pic>
        <p:nvPicPr>
          <p:cNvPr id="9" name="Picture 8" descr="14_category_season_heatmap.png">
            <a:extLst>
              <a:ext uri="{FF2B5EF4-FFF2-40B4-BE49-F238E27FC236}">
                <a16:creationId xmlns:a16="http://schemas.microsoft.com/office/drawing/2014/main" id="{1A7120E7-DAAB-49BC-AE10-2D1FF6841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1143000"/>
            <a:ext cx="3657600" cy="33375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DE96AC-EFE3-6DBE-7E5B-CE2394CCAAAB}"/>
              </a:ext>
            </a:extLst>
          </p:cNvPr>
          <p:cNvSpPr txBox="1"/>
          <p:nvPr/>
        </p:nvSpPr>
        <p:spPr>
          <a:xfrm>
            <a:off x="4142232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The category × season heatmap helps identify which category-season combinations contribute the most sales.</a:t>
            </a:r>
          </a:p>
        </p:txBody>
      </p:sp>
      <p:pic>
        <p:nvPicPr>
          <p:cNvPr id="13" name="Picture 12" descr="15_top10_subcategories.png">
            <a:extLst>
              <a:ext uri="{FF2B5EF4-FFF2-40B4-BE49-F238E27FC236}">
                <a16:creationId xmlns:a16="http://schemas.microsoft.com/office/drawing/2014/main" id="{1FCAF297-8EA8-98F0-CE77-8B0D6D2A9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3" y="1143000"/>
            <a:ext cx="3657600" cy="33375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97D586-B171-43D0-D2FB-11ECEF5A17FC}"/>
              </a:ext>
            </a:extLst>
          </p:cNvPr>
          <p:cNvSpPr txBox="1"/>
          <p:nvPr/>
        </p:nvSpPr>
        <p:spPr>
          <a:xfrm>
            <a:off x="7918704" y="4572000"/>
            <a:ext cx="3566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rPr dirty="0"/>
              <a:t>Bodysuit is the highest-selling subcategory 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3393884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CA787C-21EC-E734-84F9-B3C7A24D0AA4}"/>
              </a:ext>
            </a:extLst>
          </p:cNvPr>
          <p:cNvSpPr txBox="1"/>
          <p:nvPr/>
        </p:nvSpPr>
        <p:spPr>
          <a:xfrm>
            <a:off x="708906" y="1742768"/>
            <a:ext cx="109728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Tops recorded the highest total units sold , followed closely by Dresses 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Cotton was the highest-volume material with units sold.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Casual was the highest-volume style with units sold.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Size M had the highest total units sold followed by L 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Black was the highest-volume color with  units sold.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Summer recorded the highest total units sold among the seasons 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The strongest simple numeric relationship is </a:t>
            </a:r>
            <a:r>
              <a:rPr dirty="0" err="1"/>
              <a:t>review_count</a:t>
            </a:r>
            <a:r>
              <a:rPr dirty="0"/>
              <a:t> vs </a:t>
            </a:r>
            <a:r>
              <a:rPr dirty="0" err="1"/>
              <a:t>units_sold</a:t>
            </a:r>
            <a:r>
              <a:rPr dirty="0"/>
              <a:t> (correlation ≈ 0.90); this indicates association, not proof that reviews cause sales.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89CBF-BA59-B32F-33B1-18DCEB24C419}"/>
              </a:ext>
            </a:extLst>
          </p:cNvPr>
          <p:cNvSpPr txBox="1"/>
          <p:nvPr/>
        </p:nvSpPr>
        <p:spPr>
          <a:xfrm>
            <a:off x="742336" y="36625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Key Insights</a:t>
            </a:r>
          </a:p>
        </p:txBody>
      </p:sp>
    </p:spTree>
    <p:extLst>
      <p:ext uri="{BB962C8B-B14F-4D97-AF65-F5344CB8AC3E}">
        <p14:creationId xmlns:p14="http://schemas.microsoft.com/office/powerpoint/2010/main" val="1711024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Prioritize analysis and merchandising of high-volume categories such as Tops and Dresses.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Monitor high-volume materials such as Cotton when planning product assortment.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Use review and customer-feedback metrics as useful signals when evaluating product performance.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Track discount effectiveness by product category rather than assuming larger discounts always create higher sales.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Maintain adequate availability for high-volume sizes such as M and L.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Use category × season analysis to support seasonal assortment planning.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500"/>
            </a:pPr>
            <a:r>
              <a:rPr dirty="0"/>
              <a:t>Monitor return rates alongside sales so that high sales are not evaluated in isolation.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The analysis shows clear differences in sales across categories, materials, styles, sizes, colors and seasons.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Tops, Dresses, Cotton, Casual style and size M are among the strongest volume segments in this dataset.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Review count has a strong association with units sold, while discount percentage shows only a weak association.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The analysis demonstrates the full EDA workflow: loading, cleaning, derived columns, </a:t>
            </a:r>
            <a:r>
              <a:rPr dirty="0" err="1"/>
              <a:t>groupby</a:t>
            </a:r>
            <a:r>
              <a:rPr dirty="0"/>
              <a:t>, pivot tables, correlations and 15 visualizations.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dirty="0"/>
              <a:t>These findings can support assortment planning, inventory monitoring and further product-level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D2FA42-1FCC-8188-2394-3693687BAC7A}"/>
              </a:ext>
            </a:extLst>
          </p:cNvPr>
          <p:cNvSpPr txBox="1"/>
          <p:nvPr/>
        </p:nvSpPr>
        <p:spPr>
          <a:xfrm>
            <a:off x="2674375" y="186224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73953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717</TotalTime>
  <Words>741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MS Shell Dlg 2</vt:lpstr>
      <vt:lpstr>Wingdings</vt:lpstr>
      <vt:lpstr>Wingdings 3</vt:lpstr>
      <vt:lpstr>Madison</vt:lpstr>
      <vt:lpstr>Women's E-Commerce Retail Performance &amp; Return Rate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nair</dc:creator>
  <cp:lastModifiedBy>pooja nair</cp:lastModifiedBy>
  <cp:revision>10</cp:revision>
  <dcterms:created xsi:type="dcterms:W3CDTF">2026-09-15T13:59:44Z</dcterms:created>
  <dcterms:modified xsi:type="dcterms:W3CDTF">2026-09-29T16:00:13Z</dcterms:modified>
</cp:coreProperties>
</file>